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1" r:id="rId4"/>
    <p:sldId id="262" r:id="rId5"/>
    <p:sldId id="266" r:id="rId6"/>
    <p:sldId id="267" r:id="rId7"/>
    <p:sldId id="263" r:id="rId8"/>
    <p:sldId id="264" r:id="rId9"/>
    <p:sldId id="268" r:id="rId10"/>
    <p:sldId id="269" r:id="rId11"/>
    <p:sldId id="278" r:id="rId12"/>
    <p:sldId id="277" r:id="rId13"/>
    <p:sldId id="270" r:id="rId14"/>
    <p:sldId id="271" r:id="rId15"/>
    <p:sldId id="272" r:id="rId16"/>
    <p:sldId id="274" r:id="rId17"/>
    <p:sldId id="275" r:id="rId18"/>
    <p:sldId id="276" r:id="rId19"/>
    <p:sldId id="259" r:id="rId20"/>
    <p:sldId id="260" r:id="rId21"/>
  </p:sldIdLst>
  <p:sldSz cx="9144000" cy="5143500" type="screen16x9"/>
  <p:notesSz cx="6858000" cy="9144000"/>
  <p:embeddedFontLst>
    <p:embeddedFont>
      <p:font typeface="Poppins" charset="0"/>
      <p:regular r:id="rId23"/>
      <p:bold r:id="rId24"/>
      <p:italic r:id="rId25"/>
      <p:boldItalic r:id="rId26"/>
    </p:embeddedFont>
    <p:embeddedFont>
      <p:font typeface="Calibri Light" pitchFamily="34" charset="0"/>
      <p:regular r:id="rId27"/>
      <p:italic r:id="rId28"/>
    </p:embeddedFont>
    <p:embeddedFont>
      <p:font typeface="Segoe UI Semilight" pitchFamily="34" charset="0"/>
      <p:regular r:id="rId29"/>
      <p:italic r:id="rId30"/>
    </p:embeddedFont>
    <p:embeddedFont>
      <p:font typeface="Poppins SemiBold" charset="0"/>
      <p:regular r:id="rId31"/>
      <p:bold r:id="rId32"/>
      <p:italic r:id="rId33"/>
      <p:boldItalic r:id="rId34"/>
    </p:embeddedFont>
    <p:embeddedFont>
      <p:font typeface="Inconsolata Medium" pitchFamily="49" charset="0"/>
      <p:regular r:id="rId35"/>
    </p:embeddedFont>
    <p:embeddedFont>
      <p:font typeface="Inter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pos="1406">
          <p15:clr>
            <a:srgbClr val="747775"/>
          </p15:clr>
        </p15:guide>
        <p15:guide id="2" orient="horz" pos="956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p1TgdZZ9YR3Y1EoTWikv1FYCR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1109" y="-936"/>
      </p:cViewPr>
      <p:guideLst>
        <p:guide orient="horz" pos="956"/>
        <p:guide pos="14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59541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d231d632b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g3d231d632b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8b42d5f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g3ed8b42d5f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6da4e9a884d90e7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h6da4e9a884d90e7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 amt="40000"/>
          </a:blip>
          <a:srcRect/>
          <a:stretch/>
        </p:blipFill>
        <p:spPr>
          <a:xfrm>
            <a:off x="0" y="196566"/>
            <a:ext cx="9144003" cy="5134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6"/>
          <p:cNvPicPr preferRelativeResize="0"/>
          <p:nvPr/>
        </p:nvPicPr>
        <p:blipFill rotWithShape="1">
          <a:blip r:embed="rId3">
            <a:alphaModFix/>
          </a:blip>
          <a:srcRect l="21750" r="32401"/>
          <a:stretch/>
        </p:blipFill>
        <p:spPr>
          <a:xfrm>
            <a:off x="0" y="-6084"/>
            <a:ext cx="3542339" cy="514958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4191000" y="1963816"/>
            <a:ext cx="4641300" cy="1644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3000"/>
              <a:buFont typeface="Poppins SemiBold"/>
              <a:buNone/>
              <a:defRPr sz="3000">
                <a:solidFill>
                  <a:srgbClr val="2E354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4191000" y="3644850"/>
            <a:ext cx="4641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E81"/>
              </a:buClr>
              <a:buSzPts val="2400"/>
              <a:buFont typeface="Poppins"/>
              <a:buNone/>
              <a:defRPr sz="2400">
                <a:solidFill>
                  <a:srgbClr val="4E6E8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E81"/>
              </a:buClr>
              <a:buSzPts val="2400"/>
              <a:buFont typeface="Poppins"/>
              <a:buNone/>
              <a:defRPr sz="2400">
                <a:solidFill>
                  <a:srgbClr val="4E6E8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E81"/>
              </a:buClr>
              <a:buSzPts val="2400"/>
              <a:buFont typeface="Poppins"/>
              <a:buNone/>
              <a:defRPr sz="2400">
                <a:solidFill>
                  <a:srgbClr val="4E6E8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E81"/>
              </a:buClr>
              <a:buSzPts val="2400"/>
              <a:buFont typeface="Poppins"/>
              <a:buNone/>
              <a:defRPr sz="2400">
                <a:solidFill>
                  <a:srgbClr val="4E6E8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E81"/>
              </a:buClr>
              <a:buSzPts val="2400"/>
              <a:buFont typeface="Poppins"/>
              <a:buNone/>
              <a:defRPr sz="2400">
                <a:solidFill>
                  <a:srgbClr val="4E6E8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E81"/>
              </a:buClr>
              <a:buSzPts val="2400"/>
              <a:buFont typeface="Poppins"/>
              <a:buNone/>
              <a:defRPr sz="2400">
                <a:solidFill>
                  <a:srgbClr val="4E6E8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E81"/>
              </a:buClr>
              <a:buSzPts val="2400"/>
              <a:buFont typeface="Poppins"/>
              <a:buNone/>
              <a:defRPr sz="2400">
                <a:solidFill>
                  <a:srgbClr val="4E6E8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E81"/>
              </a:buClr>
              <a:buSzPts val="2400"/>
              <a:buFont typeface="Poppins"/>
              <a:buNone/>
              <a:defRPr sz="2400">
                <a:solidFill>
                  <a:srgbClr val="4E6E8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E81"/>
              </a:buClr>
              <a:buSzPts val="2400"/>
              <a:buFont typeface="Poppins"/>
              <a:buNone/>
              <a:defRPr sz="2400">
                <a:solidFill>
                  <a:srgbClr val="4E6E8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4191000" y="3572850"/>
            <a:ext cx="1800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1" y="1545436"/>
            <a:ext cx="3440114" cy="712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91000" y="1022975"/>
            <a:ext cx="3086925" cy="63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1">
  <p:cSld name="TITLE_AND_BODY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8"/>
          <p:cNvPicPr preferRelativeResize="0"/>
          <p:nvPr/>
        </p:nvPicPr>
        <p:blipFill rotWithShape="1">
          <a:blip r:embed="rId2">
            <a:alphaModFix amt="40000"/>
          </a:blip>
          <a:srcRect/>
          <a:stretch/>
        </p:blipFill>
        <p:spPr>
          <a:xfrm>
            <a:off x="0" y="4465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8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"/>
          <p:cNvPicPr preferRelativeResize="0"/>
          <p:nvPr/>
        </p:nvPicPr>
        <p:blipFill rotWithShape="1">
          <a:blip r:embed="rId2">
            <a:alphaModFix amt="40000"/>
          </a:blip>
          <a:srcRect/>
          <a:stretch/>
        </p:blipFill>
        <p:spPr>
          <a:xfrm>
            <a:off x="0" y="4465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706249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Font typeface="Poppins SemiBold"/>
              <a:buNone/>
              <a:defRPr sz="2000">
                <a:solidFill>
                  <a:srgbClr val="2E354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645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600"/>
              <a:buFont typeface="Arial"/>
              <a:buChar char="•"/>
              <a:defRPr sz="1600">
                <a:solidFill>
                  <a:srgbClr val="2E354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○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■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●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○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■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●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○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■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" name="Google Shape;26;p7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(g3ed8b42d5f2_7_0)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96b748745_0_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7062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Font typeface="Poppins SemiBold"/>
              <a:buNone/>
              <a:defRPr sz="2000">
                <a:solidFill>
                  <a:srgbClr val="2E354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2400"/>
              <a:buNone/>
              <a:defRPr sz="2400">
                <a:solidFill>
                  <a:srgbClr val="2E354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g3f96b748745_0_23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600"/>
              <a:buFont typeface="Arial"/>
              <a:buChar char="•"/>
              <a:defRPr sz="1600">
                <a:solidFill>
                  <a:srgbClr val="2E354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○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■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●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○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■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●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○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541"/>
              </a:buClr>
              <a:buSzPts val="1400"/>
              <a:buFont typeface="Poppins"/>
              <a:buChar char="■"/>
              <a:defRPr>
                <a:solidFill>
                  <a:srgbClr val="2E354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hyperlink" Target="http://dcc.uchile.cl/datos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aidhog/big-data-cine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jpe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jpe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hsulin/5-500-data-scientist-jobs-report-2020-adefe1d364d3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medium.com/@chihhsulin/5-500-data-scientist-jobs-report-2020-adefe1d364d3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hyperlink" Target="http://dcc.uchile.cl/datos" TargetMode="Externa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d231d632bc_0_18"/>
          <p:cNvSpPr txBox="1">
            <a:spLocks noGrp="1"/>
          </p:cNvSpPr>
          <p:nvPr>
            <p:ph type="ctrTitle"/>
          </p:nvPr>
        </p:nvSpPr>
        <p:spPr>
          <a:xfrm>
            <a:off x="4084650" y="2100750"/>
            <a:ext cx="4854000" cy="12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buSzPts val="2700"/>
            </a:pPr>
            <a:r>
              <a:rPr lang="es-ES" sz="1800" b="1" dirty="0" smtClean="0">
                <a:solidFill>
                  <a:srgbClr val="C00000"/>
                </a:solidFill>
              </a:rPr>
              <a:t>Taller</a:t>
            </a:r>
            <a:r>
              <a:rPr lang="es-ES" sz="1800" b="1" dirty="0" smtClean="0"/>
              <a:t>:</a:t>
            </a:r>
            <a:br>
              <a:rPr lang="es-ES" sz="1800" b="1" dirty="0" smtClean="0"/>
            </a:br>
            <a:r>
              <a:rPr lang="es-ES" sz="1800" b="1" dirty="0" smtClean="0"/>
              <a:t>El </a:t>
            </a:r>
            <a:r>
              <a:rPr lang="es-ES" sz="1800" b="1" dirty="0"/>
              <a:t>mundo del </a:t>
            </a:r>
            <a:r>
              <a:rPr lang="es-ES" sz="1800" b="1" dirty="0">
                <a:solidFill>
                  <a:srgbClr val="C00000"/>
                </a:solidFill>
              </a:rPr>
              <a:t>Big Data</a:t>
            </a:r>
            <a:r>
              <a:rPr lang="es-ES" sz="1800" b="1" dirty="0"/>
              <a:t> a través del </a:t>
            </a:r>
            <a:r>
              <a:rPr lang="es-ES" sz="1800" b="1" dirty="0">
                <a:solidFill>
                  <a:srgbClr val="C00000"/>
                </a:solidFill>
              </a:rPr>
              <a:t>cine</a:t>
            </a:r>
            <a:r>
              <a:rPr lang="es-ES" sz="1800" b="1" dirty="0"/>
              <a:t/>
            </a:r>
            <a:br>
              <a:rPr lang="es-ES" sz="1800" b="1" dirty="0"/>
            </a:br>
            <a:endParaRPr sz="1800" dirty="0"/>
          </a:p>
        </p:txBody>
      </p:sp>
      <p:sp>
        <p:nvSpPr>
          <p:cNvPr id="39" name="Google Shape;39;g3d231d632bc_0_18"/>
          <p:cNvSpPr txBox="1">
            <a:spLocks noGrp="1"/>
          </p:cNvSpPr>
          <p:nvPr>
            <p:ph type="subTitle" idx="1"/>
          </p:nvPr>
        </p:nvSpPr>
        <p:spPr>
          <a:xfrm>
            <a:off x="4191000" y="3707450"/>
            <a:ext cx="4641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600" dirty="0" smtClean="0"/>
              <a:t>Aidan Hogan, </a:t>
            </a:r>
            <a:r>
              <a:rPr lang="en-US" sz="1600" dirty="0" err="1" smtClean="0"/>
              <a:t>Profesor</a:t>
            </a:r>
            <a:r>
              <a:rPr lang="en-US" sz="1600" dirty="0" smtClean="0"/>
              <a:t> del DCC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0" y="4465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40"/>
                <a:buFont typeface="Arial"/>
                <a:buNone/>
              </a:pPr>
              <a:r>
                <a:rPr lang="es-419" sz="2040" b="0" i="0" u="none" strike="noStrike" cap="none" dirty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Diploma en </a:t>
              </a:r>
              <a:r>
                <a:rPr lang="es-419" sz="2040" dirty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Ciencia e Ingeniería de Datos - U. de Chile</a:t>
              </a:r>
              <a:endParaRPr sz="2040" b="0" i="0" u="none" strike="noStrike" cap="none" dirty="0">
                <a:solidFill>
                  <a:srgbClr val="2E354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50" name="Google Shape;50;g3ed8b42d5f2_0_215"/>
          <p:cNvGrpSpPr/>
          <p:nvPr/>
        </p:nvGrpSpPr>
        <p:grpSpPr>
          <a:xfrm>
            <a:off x="476250" y="1238250"/>
            <a:ext cx="8191500" cy="476400"/>
            <a:chOff x="476250" y="1238250"/>
            <a:chExt cx="8191500" cy="476400"/>
          </a:xfrm>
        </p:grpSpPr>
        <p:sp>
          <p:nvSpPr>
            <p:cNvPr id="51" name="Google Shape;51;g3ed8b42d5f2_0_215"/>
            <p:cNvSpPr/>
            <p:nvPr/>
          </p:nvSpPr>
          <p:spPr>
            <a:xfrm>
              <a:off x="476250" y="1238250"/>
              <a:ext cx="8191500" cy="476400"/>
            </a:xfrm>
            <a:prstGeom prst="roundRect">
              <a:avLst>
                <a:gd name="adj" fmla="val 8000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3ed8b42d5f2_0_215"/>
            <p:cNvSpPr txBox="1"/>
            <p:nvPr/>
          </p:nvSpPr>
          <p:spPr>
            <a:xfrm>
              <a:off x="619125" y="1238250"/>
              <a:ext cx="7905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lang="es-419" sz="1250" i="1" dirty="0">
                  <a:solidFill>
                    <a:srgbClr val="4E6E81"/>
                  </a:solidFill>
                  <a:latin typeface="Inter"/>
                  <a:ea typeface="Inter"/>
                  <a:cs typeface="Inter"/>
                  <a:sym typeface="Inter"/>
                </a:rPr>
                <a:t>Lidera la toma de decisiones basadas en datos en la era de la IA</a:t>
              </a:r>
              <a:endParaRPr sz="1250" b="0" i="1" u="none" strike="noStrike" cap="none" dirty="0">
                <a:solidFill>
                  <a:srgbClr val="4E6E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" name="Google Shape;53;g3ed8b42d5f2_0_215"/>
          <p:cNvGrpSpPr/>
          <p:nvPr/>
        </p:nvGrpSpPr>
        <p:grpSpPr>
          <a:xfrm>
            <a:off x="476250" y="1905000"/>
            <a:ext cx="8191650" cy="2196300"/>
            <a:chOff x="476250" y="1905000"/>
            <a:chExt cx="8191650" cy="2196300"/>
          </a:xfrm>
        </p:grpSpPr>
        <p:sp>
          <p:nvSpPr>
            <p:cNvPr id="54" name="Google Shape;54;g3ed8b42d5f2_0_215"/>
            <p:cNvSpPr/>
            <p:nvPr/>
          </p:nvSpPr>
          <p:spPr>
            <a:xfrm>
              <a:off x="476250" y="1905000"/>
              <a:ext cx="3905400" cy="2001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DEE2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ed8b42d5f2_0_215"/>
            <p:cNvSpPr txBox="1"/>
            <p:nvPr/>
          </p:nvSpPr>
          <p:spPr>
            <a:xfrm>
              <a:off x="666750" y="2047875"/>
              <a:ext cx="3524400" cy="17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 b="1" i="0" u="none" strike="noStrike" cap="none">
                  <a:solidFill>
                    <a:srgbClr val="D43015"/>
                  </a:solidFill>
                  <a:latin typeface="Inter"/>
                  <a:ea typeface="Inter"/>
                  <a:cs typeface="Inter"/>
                  <a:sym typeface="Inter"/>
                </a:rPr>
                <a:t>DETALLES DEL PROGRAMA</a:t>
              </a:r>
              <a:endParaRPr sz="1200" b="1" i="0" u="none" strike="noStrike" cap="none">
                <a:solidFill>
                  <a:srgbClr val="D430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360001" marR="0" lvl="0" indent="0" algn="l" rtl="0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 b="1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Inicio: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s-419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abril 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202</a:t>
              </a:r>
              <a:r>
                <a:rPr lang="es-419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7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  <a:b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s-419" sz="1200" b="1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Término: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s-419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agosto 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2027</a:t>
              </a:r>
              <a:endPara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360001" marR="0" lvl="0" indent="0" algn="l" rtl="0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 b="1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Modalidad: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Online con clases en vivo</a:t>
              </a:r>
              <a:endPara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360001" marR="0" lvl="0" indent="0" algn="l" rtl="0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 b="1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Horarios: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Lun, Mar y Jue </a:t>
              </a:r>
              <a:r>
                <a:rPr lang="es-419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18:30 a 21:30 </a:t>
              </a:r>
              <a:r>
                <a:rPr lang="es-419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h. Un sábado al mes de 9:00 a 12:00.</a:t>
              </a:r>
              <a:endPara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" name="Google Shape;56;g3ed8b42d5f2_0_215"/>
            <p:cNvSpPr/>
            <p:nvPr/>
          </p:nvSpPr>
          <p:spPr>
            <a:xfrm>
              <a:off x="4572000" y="1905000"/>
              <a:ext cx="4095900" cy="21963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DEE2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3ed8b42d5f2_0_215"/>
            <p:cNvSpPr txBox="1"/>
            <p:nvPr/>
          </p:nvSpPr>
          <p:spPr>
            <a:xfrm>
              <a:off x="4762500" y="2047875"/>
              <a:ext cx="3714900" cy="2043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 b="1" i="0" u="none" strike="noStrike" cap="none" dirty="0">
                  <a:solidFill>
                    <a:srgbClr val="D43015"/>
                  </a:solidFill>
                  <a:latin typeface="Inter"/>
                  <a:ea typeface="Inter"/>
                  <a:cs typeface="Inter"/>
                  <a:sym typeface="Inter"/>
                </a:rPr>
                <a:t>MALLA CURRICULAR</a:t>
              </a:r>
              <a:endParaRPr sz="1200" b="1" i="0" u="none" strike="noStrike" cap="none" dirty="0">
                <a:solidFill>
                  <a:srgbClr val="D430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7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Programación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Estadística</a:t>
              </a:r>
              <a:endParaRPr sz="120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Visualización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Datos</a:t>
              </a:r>
              <a:endParaRPr sz="120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Recuperación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Información</a:t>
              </a:r>
              <a:endParaRPr sz="120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Aprendizaje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Máquinas y Deep Learning</a:t>
              </a:r>
              <a:endParaRPr sz="120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Minería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Datos</a:t>
              </a:r>
              <a:endParaRPr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rgbClr val="C00000"/>
                  </a:solidFill>
                  <a:uFill>
                    <a:noFill/>
                  </a:uFill>
                </a:rPr>
                <a:t> Big Data</a:t>
              </a:r>
              <a:endParaRPr sz="1200" dirty="0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Taller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Proyecto</a:t>
              </a:r>
              <a:endParaRPr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8" name="Google Shape;58;g3ed8b42d5f2_0_215"/>
          <p:cNvSpPr txBox="1"/>
          <p:nvPr/>
        </p:nvSpPr>
        <p:spPr>
          <a:xfrm>
            <a:off x="476250" y="4559950"/>
            <a:ext cx="81915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1" i="0" u="none" strike="noStrike" cap="none" dirty="0">
                <a:solidFill>
                  <a:srgbClr val="2E3541"/>
                </a:solidFill>
                <a:latin typeface="Inter"/>
                <a:ea typeface="Inter"/>
                <a:cs typeface="Inter"/>
                <a:sym typeface="Inter"/>
              </a:rPr>
              <a:t>Más información:</a:t>
            </a:r>
            <a:r>
              <a:rPr lang="es-419" sz="1200" b="0" i="0" u="none" strike="noStrike" cap="none" dirty="0">
                <a:solidFill>
                  <a:srgbClr val="2E354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-419" sz="1200" b="0" i="0" u="sng" strike="noStrike" cap="none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dcc.uchile.cl/</a:t>
            </a:r>
            <a:r>
              <a:rPr lang="es-419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datos</a:t>
            </a:r>
            <a:endParaRPr sz="1200" b="0" i="0" u="none" strike="noStrike" cap="none" dirty="0">
              <a:solidFill>
                <a:srgbClr val="4E6E8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g3ed8b42d5f2_0_2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7925" y="2488525"/>
            <a:ext cx="149759" cy="16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g3ed8b42d5f2_0_2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6400" y="3054069"/>
            <a:ext cx="192798" cy="166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3ed8b42d5f2_0_2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6400" y="3460200"/>
            <a:ext cx="192800" cy="1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b="0" i="0" u="none" strike="noStrike" cap="none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¿</a:t>
              </a:r>
              <a:r>
                <a:rPr lang="en-US" sz="2040" b="0" i="0" u="none" strike="noStrike" cap="none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Qué</a:t>
              </a:r>
              <a:r>
                <a:rPr lang="en-US" sz="2040" b="0" i="0" u="none" strike="noStrike" cap="none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van a </a:t>
              </a:r>
              <a:r>
                <a:rPr lang="en-US" sz="2040" b="0" i="0" u="none" strike="noStrike" cap="none" dirty="0" err="1" smtClean="0">
                  <a:solidFill>
                    <a:srgbClr val="C000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ver</a:t>
              </a:r>
              <a:r>
                <a:rPr lang="en-US" sz="2040" b="0" i="0" u="none" strike="noStrike" cap="none" dirty="0" smtClean="0">
                  <a:solidFill>
                    <a:srgbClr val="C000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b="0" i="0" u="none" strike="noStrike" cap="none" dirty="0" err="1" smtClean="0">
                  <a:solidFill>
                    <a:srgbClr val="C000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esta</a:t>
              </a:r>
              <a:r>
                <a:rPr lang="en-US" sz="2040" b="0" i="0" u="none" strike="noStrike" cap="none" dirty="0" smtClean="0">
                  <a:solidFill>
                    <a:srgbClr val="C000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b="0" i="0" u="none" strike="noStrike" cap="none" dirty="0" err="1" smtClean="0">
                  <a:solidFill>
                    <a:srgbClr val="C000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noche</a:t>
              </a:r>
              <a:r>
                <a:rPr lang="en-US" sz="2040" b="0" i="0" u="none" strike="noStrike" cap="none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?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pic>
        <p:nvPicPr>
          <p:cNvPr id="1026" name="Picture 2" descr="Netflix - Apps on Google Pla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667" y="2672215"/>
            <a:ext cx="1978620" cy="1978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ulu - Wikipedia, la enciclopedia libr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457" y="3335902"/>
            <a:ext cx="1975340" cy="65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ple TV: descarga e instalación gratuitas en Windows | Microsoft ..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649" y="1507515"/>
            <a:ext cx="1081210" cy="108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037" y="1439192"/>
            <a:ext cx="2222500" cy="1382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 descr="HBO Max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759" y="1541219"/>
            <a:ext cx="1248190" cy="1248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48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Podemos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usar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Big Data +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IMDb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para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contestar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2" y="1402081"/>
            <a:ext cx="5476875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800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Los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datos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de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IMDb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quedan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disponibles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14" y="1254760"/>
            <a:ext cx="7507171" cy="3406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245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Pero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son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grandes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25827"/>
              </p:ext>
            </p:extLst>
          </p:nvPr>
        </p:nvGraphicFramePr>
        <p:xfrm>
          <a:off x="699147" y="1443990"/>
          <a:ext cx="7745706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3627"/>
                <a:gridCol w="1269678"/>
                <a:gridCol w="1534160"/>
                <a:gridCol w="1339135"/>
                <a:gridCol w="1289106"/>
              </a:tblGrid>
              <a:tr h="370840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bg1"/>
                          </a:solidFill>
                        </a:rPr>
                        <a:t>Archivo</a:t>
                      </a:r>
                      <a:endParaRPr lang="es-CL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bg1"/>
                          </a:solidFill>
                        </a:rPr>
                        <a:t>Comprimido</a:t>
                      </a:r>
                      <a:endParaRPr lang="es-CL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bg1"/>
                          </a:solidFill>
                        </a:rPr>
                        <a:t>Descomprimido</a:t>
                      </a:r>
                      <a:endParaRPr lang="es-CL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bg1"/>
                          </a:solidFill>
                        </a:rPr>
                        <a:t>Filas</a:t>
                      </a:r>
                      <a:endParaRPr lang="es-CL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bg1"/>
                          </a:solidFill>
                        </a:rPr>
                        <a:t>Columnas</a:t>
                      </a:r>
                      <a:endParaRPr lang="es-CL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dirty="0" smtClean="0">
                          <a:latin typeface="Inconsolata Medium" pitchFamily="49" charset="0"/>
                          <a:ea typeface="Inconsolata Medium" pitchFamily="49" charset="0"/>
                        </a:rPr>
                        <a:t>name.basics.tsv.gz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304MB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973MB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none" strike="noStrike" cap="none" spc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12.881.969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6</a:t>
                      </a:r>
                      <a:endParaRPr lang="es-C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>
                          <a:latin typeface="Inconsolata Medium" pitchFamily="49" charset="0"/>
                          <a:ea typeface="Inconsolata Medium" pitchFamily="49" charset="0"/>
                        </a:rPr>
                        <a:t>title.akas.tsv.gz</a:t>
                      </a:r>
                      <a:endParaRPr lang="es-CL" dirty="0">
                        <a:latin typeface="Inconsolata Medium" pitchFamily="49" charset="0"/>
                        <a:ea typeface="Inconsolata Medium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506MB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3.033MB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none" strike="noStrike" cap="none" spc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59.861.136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8</a:t>
                      </a:r>
                      <a:endParaRPr lang="es-C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>
                          <a:latin typeface="Inconsolata Medium" pitchFamily="49" charset="0"/>
                          <a:ea typeface="Inconsolata Medium" pitchFamily="49" charset="0"/>
                        </a:rPr>
                        <a:t>title.basics.tsv.gz</a:t>
                      </a:r>
                      <a:endParaRPr lang="es-CL" dirty="0">
                        <a:latin typeface="Inconsolata Medium" pitchFamily="49" charset="0"/>
                        <a:ea typeface="Inconsolata Medium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224MB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1.118MB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none" strike="noStrike" cap="none" spc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12.881.968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9</a:t>
                      </a:r>
                      <a:endParaRPr lang="es-C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>
                          <a:latin typeface="Inconsolata Medium" pitchFamily="49" charset="0"/>
                          <a:ea typeface="Inconsolata Medium" pitchFamily="49" charset="0"/>
                        </a:rPr>
                        <a:t>title.crew.tsv.gz</a:t>
                      </a:r>
                      <a:endParaRPr lang="es-CL" dirty="0">
                        <a:latin typeface="Inconsolata Medium" pitchFamily="49" charset="0"/>
                        <a:ea typeface="Inconsolata Medium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81MB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424M</a:t>
                      </a:r>
                      <a:r>
                        <a:rPr lang="es-CL" baseline="0" dirty="0" smtClean="0"/>
                        <a:t>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none" strike="noStrike" cap="none" spc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12.881.680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3</a:t>
                      </a:r>
                      <a:endParaRPr lang="es-C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>
                          <a:latin typeface="Inconsolata Medium" pitchFamily="49" charset="0"/>
                          <a:ea typeface="Inconsolata Medium" pitchFamily="49" charset="0"/>
                        </a:rPr>
                        <a:t>title.episode.tsv.gz</a:t>
                      </a:r>
                      <a:endParaRPr lang="es-CL" dirty="0">
                        <a:latin typeface="Inconsolata Medium" pitchFamily="49" charset="0"/>
                        <a:ea typeface="Inconsolata Medium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54MB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262MB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none" strike="noStrike" cap="none" spc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9.963.519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4</a:t>
                      </a:r>
                      <a:endParaRPr lang="es-C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>
                          <a:latin typeface="Inconsolata Medium" pitchFamily="49" charset="0"/>
                          <a:ea typeface="Inconsolata Medium" pitchFamily="49" charset="0"/>
                        </a:rPr>
                        <a:t>title.principals.tsv.gz</a:t>
                      </a:r>
                      <a:endParaRPr lang="es-CL" dirty="0">
                        <a:latin typeface="Inconsolata Medium" pitchFamily="49" charset="0"/>
                        <a:ea typeface="Inconsolata Medium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769MB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4.400MB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none" strike="noStrike" cap="none" spc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102.408.464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6</a:t>
                      </a:r>
                      <a:endParaRPr lang="es-C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>
                          <a:latin typeface="Inconsolata Medium" pitchFamily="49" charset="0"/>
                          <a:ea typeface="Inconsolata Medium" pitchFamily="49" charset="0"/>
                        </a:rPr>
                        <a:t>title.ratings.tsv.gz</a:t>
                      </a:r>
                      <a:endParaRPr lang="es-CL" dirty="0">
                        <a:latin typeface="Inconsolata Medium" pitchFamily="49" charset="0"/>
                        <a:ea typeface="Inconsolata Medium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8MB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30MB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none" strike="noStrike" cap="none" spc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1.723.236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dirty="0" smtClean="0"/>
                        <a:t>6</a:t>
                      </a:r>
                      <a:endParaRPr lang="es-CL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88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Para la parte de </a:t>
              </a:r>
              <a:r>
                <a:rPr lang="en-US" sz="2040" dirty="0" smtClean="0">
                  <a:solidFill>
                    <a:srgbClr val="C000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Big Data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usaremos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Apache Spark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74" name="Picture 2" descr="Apache Spark - Wikiped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393825"/>
            <a:ext cx="59055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230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Para la parte de </a:t>
              </a:r>
              <a:r>
                <a:rPr lang="en-US" sz="2040" dirty="0" smtClean="0">
                  <a:solidFill>
                    <a:srgbClr val="C000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Big Data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usaremos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Apache Spark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098" name="Picture 2" descr="Apache Spark: The Game-Changer in Big Data Analytics | SpringSoft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49" y="1382164"/>
            <a:ext cx="3608936" cy="360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ntroduction to Apache Spark and its Datasets - Analytics Vidhy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207" y="2125120"/>
            <a:ext cx="3932900" cy="2123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51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Taller: </a:t>
              </a:r>
              <a:r>
                <a:rPr lang="es-ES" sz="2040" dirty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El mundo del </a:t>
              </a:r>
              <a:r>
                <a:rPr lang="es-ES" sz="2040" dirty="0">
                  <a:solidFill>
                    <a:srgbClr val="C000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Big Data</a:t>
              </a:r>
              <a:r>
                <a:rPr lang="es-ES" sz="2040" dirty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a través del </a:t>
              </a:r>
              <a:r>
                <a:rPr lang="es-ES" sz="2040" dirty="0">
                  <a:solidFill>
                    <a:srgbClr val="C000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cine</a:t>
              </a:r>
              <a:r>
                <a:rPr lang="en-US" sz="2040" dirty="0" smtClean="0">
                  <a:solidFill>
                    <a:srgbClr val="C000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95" y="1427226"/>
            <a:ext cx="7068503" cy="2438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2194560" y="4406892"/>
            <a:ext cx="65328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800" dirty="0">
                <a:hlinkClick r:id="rId6"/>
              </a:rPr>
              <a:t>https://</a:t>
            </a:r>
            <a:r>
              <a:rPr lang="es-CL" sz="2800" dirty="0" smtClean="0">
                <a:hlinkClick r:id="rId6"/>
              </a:rPr>
              <a:t>github.com/aidhog/big-data-cine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410336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¿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Qué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significa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“Big Data”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?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7" name="Picture 4" descr="https://www.thecareermuse.co.in/wp-content/uploads/2016/05/How-does-Big-Data-Relate-To-Recruiting-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320800"/>
            <a:ext cx="3989705" cy="2393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8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¿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Qué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significa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“Big Data”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?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7" name="Picture 4" descr="https://www.thecareermuse.co.in/wp-content/uploads/2016/05/How-does-Big-Data-Relate-To-Recruiting-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320800"/>
            <a:ext cx="3989705" cy="2393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4320" y="2355988"/>
            <a:ext cx="6092095" cy="254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8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¿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Cómo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escalar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más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? (1)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7170" name="Picture 2" descr="SQL - Wikipedia, la enciclopedia lib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20" y="1780165"/>
            <a:ext cx="4944745" cy="237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560" y="955301"/>
            <a:ext cx="3777299" cy="3777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706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¿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Cómo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escalar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más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? (2)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218" name="Picture 2" descr="Python vertical logo - free Icon PNG, SVG, ICO, ICNS | Icon-Ico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158" y="1487407"/>
            <a:ext cx="2775683" cy="310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843" y="873544"/>
            <a:ext cx="3777299" cy="3777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244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¿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Cómo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escalar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más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? (3)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242" name="Picture 2" descr="Before Google became Google: The original setup at Stanford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320" y="1495392"/>
            <a:ext cx="4711346" cy="293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Google's 19th Birthday: How Larry Page And Sergey Brin Created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1870983"/>
            <a:ext cx="3810000" cy="21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36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ed8b42d5f2_0_215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-105508" y="-401972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029097" cy="762000"/>
            <a:chOff x="476250" y="381000"/>
            <a:chExt cx="6667500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¿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Cómo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escalar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040" dirty="0" err="1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más</a:t>
              </a: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? (3)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1266" name="Picture 2" descr="Modern data technology center server racks working in a lit room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877" y="1366726"/>
            <a:ext cx="4746978" cy="3171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69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d8b42d5f2_0_215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3ed8b42d5f2_0_2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g3ed8b42d5f2_0_215"/>
          <p:cNvGrpSpPr/>
          <p:nvPr/>
        </p:nvGrpSpPr>
        <p:grpSpPr>
          <a:xfrm>
            <a:off x="476249" y="381000"/>
            <a:ext cx="7390447" cy="762000"/>
            <a:chOff x="476250" y="381000"/>
            <a:chExt cx="7010261" cy="762000"/>
          </a:xfrm>
        </p:grpSpPr>
        <p:sp>
          <p:nvSpPr>
            <p:cNvPr id="48" name="Google Shape;48;g3ed8b42d5f2_0_215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ed8b42d5f2_0_215"/>
            <p:cNvSpPr txBox="1"/>
            <p:nvPr/>
          </p:nvSpPr>
          <p:spPr>
            <a:xfrm>
              <a:off x="476250" y="381000"/>
              <a:ext cx="7010261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lvl="0">
                <a:buSzPts val="2040"/>
              </a:pPr>
              <a:r>
                <a:rPr lang="en-US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Big Data en el </a:t>
              </a:r>
              <a:r>
                <a:rPr lang="es-419" sz="2040" dirty="0" smtClean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Diploma </a:t>
              </a:r>
              <a:r>
                <a:rPr lang="es-419" sz="2040" dirty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en Ciencia e Ingeniería de Datos</a:t>
              </a:r>
              <a:endParaRPr sz="2040" b="0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3" name="AutoShape 8" descr="Paramount+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Paramount+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AutoShape 2" descr="IMDb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IMDb - Wikipedi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Db - Wikipedi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2290" name="Picture 2" descr="Aida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599" y="1173480"/>
            <a:ext cx="1306195" cy="148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11700" y="1259840"/>
            <a:ext cx="8520600" cy="3538301"/>
          </a:xfrm>
        </p:spPr>
        <p:txBody>
          <a:bodyPr>
            <a:normAutofit/>
          </a:bodyPr>
          <a:lstStyle/>
          <a:p>
            <a:pPr marL="514440" indent="-514080">
              <a:lnSpc>
                <a:spcPct val="150000"/>
              </a:lnSpc>
              <a:buClr>
                <a:schemeClr val="tx1"/>
              </a:buClr>
            </a:pPr>
            <a:r>
              <a:rPr lang="es-CL" sz="2400" spc="-1" dirty="0" smtClean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 Light" panose="020F0302020204030204" pitchFamily="34" charset="0"/>
                <a:cs typeface="Segoe UI Semilight" panose="020B0402040204020203" pitchFamily="34" charset="0"/>
              </a:rPr>
              <a:t>Introducción a Big Data</a:t>
            </a:r>
            <a:r>
              <a:rPr lang="es-CL" sz="2400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 Light" panose="020F0302020204030204" pitchFamily="34" charset="0"/>
                <a:cs typeface="Segoe UI Semilight" panose="020B0402040204020203" pitchFamily="34" charset="0"/>
              </a:rPr>
              <a:t>	</a:t>
            </a:r>
            <a:endParaRPr lang="es-CL" sz="2400" spc="-1" dirty="0" smtClean="0">
              <a:solidFill>
                <a:srgbClr val="C00000"/>
              </a:solidFill>
              <a:uFill>
                <a:solidFill>
                  <a:srgbClr val="FFFFFF"/>
                </a:solidFill>
              </a:uFill>
              <a:latin typeface="Calibri Light" panose="020F0302020204030204" pitchFamily="34" charset="0"/>
              <a:cs typeface="Segoe UI Semilight" panose="020B0402040204020203" pitchFamily="34" charset="0"/>
            </a:endParaRPr>
          </a:p>
          <a:p>
            <a:pPr marL="514440" indent="-514080">
              <a:lnSpc>
                <a:spcPct val="150000"/>
              </a:lnSpc>
              <a:buClr>
                <a:schemeClr val="tx1"/>
              </a:buClr>
            </a:pPr>
            <a:r>
              <a:rPr lang="es-CL" sz="2400" spc="-1" dirty="0" smtClean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 Light" panose="020F0302020204030204" pitchFamily="34" charset="0"/>
                <a:cs typeface="Segoe UI Semilight" panose="020B0402040204020203" pitchFamily="34" charset="0"/>
              </a:rPr>
              <a:t>Sistemas de archivos distribuidos 		</a:t>
            </a:r>
          </a:p>
          <a:p>
            <a:pPr marL="514440" indent="-514080">
              <a:lnSpc>
                <a:spcPct val="150000"/>
              </a:lnSpc>
              <a:buClr>
                <a:schemeClr val="tx1"/>
              </a:buClr>
            </a:pPr>
            <a:r>
              <a:rPr lang="es-CL" sz="2400" spc="-1" dirty="0" err="1" smtClean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 Light" panose="020F0302020204030204" pitchFamily="34" charset="0"/>
                <a:cs typeface="Segoe UI Semilight" panose="020B0402040204020203" pitchFamily="34" charset="0"/>
              </a:rPr>
              <a:t>Frameworks</a:t>
            </a:r>
            <a:r>
              <a:rPr lang="es-CL" sz="2400" spc="-1" dirty="0" smtClean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 Light" panose="020F0302020204030204" pitchFamily="34" charset="0"/>
                <a:cs typeface="Segoe UI Semilight" panose="020B0402040204020203" pitchFamily="34" charset="0"/>
              </a:rPr>
              <a:t> distribuidos para procesar datos</a:t>
            </a:r>
          </a:p>
          <a:p>
            <a:pPr marL="514440" indent="-514080">
              <a:lnSpc>
                <a:spcPct val="150000"/>
              </a:lnSpc>
              <a:buClr>
                <a:schemeClr val="tx1"/>
              </a:buClr>
            </a:pPr>
            <a:r>
              <a:rPr lang="es-CL" sz="2400" spc="-1" dirty="0" smtClean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 Light" panose="020F0302020204030204" pitchFamily="34" charset="0"/>
                <a:cs typeface="Segoe UI Semilight" panose="020B0402040204020203" pitchFamily="34" charset="0"/>
              </a:rPr>
              <a:t>Recuperación de información </a:t>
            </a:r>
          </a:p>
          <a:p>
            <a:pPr marL="514440" indent="-514080">
              <a:lnSpc>
                <a:spcPct val="150000"/>
              </a:lnSpc>
              <a:buClr>
                <a:schemeClr val="tx1"/>
              </a:buClr>
            </a:pPr>
            <a:r>
              <a:rPr lang="es-CL" sz="2400" spc="-1" dirty="0" smtClean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 Light" panose="020F0302020204030204" pitchFamily="34" charset="0"/>
                <a:cs typeface="Segoe UI Semilight" panose="020B0402040204020203" pitchFamily="34" charset="0"/>
              </a:rPr>
              <a:t>Gestión de datos distribuida (</a:t>
            </a:r>
            <a:r>
              <a:rPr lang="es-CL" sz="2400" spc="-1" dirty="0" err="1" smtClean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 Light" panose="020F0302020204030204" pitchFamily="34" charset="0"/>
                <a:cs typeface="Segoe UI Semilight" panose="020B0402040204020203" pitchFamily="34" charset="0"/>
              </a:rPr>
              <a:t>NoSQL</a:t>
            </a:r>
            <a:r>
              <a:rPr lang="es-CL" sz="2400" spc="-1" dirty="0" smtClean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 Light" panose="020F0302020204030204" pitchFamily="34" charset="0"/>
                <a:cs typeface="Segoe UI Semilight" panose="020B0402040204020203" pitchFamily="34" charset="0"/>
              </a:rPr>
              <a:t>)</a:t>
            </a:r>
          </a:p>
          <a:p>
            <a:pPr marL="514440" indent="-51408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endParaRPr lang="es-CL" dirty="0">
              <a:solidFill>
                <a:schemeClr val="accent6">
                  <a:lumMod val="75000"/>
                </a:schemeClr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  <a:p>
            <a:endParaRPr lang="es-CL" dirty="0"/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599" y="2997200"/>
            <a:ext cx="1306195" cy="1513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094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smtClean="0"/>
              <a:t>Ofertas de Trabajo para “Data Scientist”</a:t>
            </a:r>
            <a:endParaRPr lang="es-CL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272" y="1108162"/>
            <a:ext cx="5963653" cy="3639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4818955"/>
            <a:ext cx="922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hlinkClick r:id="rId3"/>
              </a:rPr>
              <a:t>https://medium.com/@</a:t>
            </a:r>
            <a:r>
              <a:rPr lang="en-US" sz="1600" dirty="0" smtClean="0">
                <a:hlinkClick r:id="rId3"/>
              </a:rPr>
              <a:t>chihhsulin/5-500-data-scientist-jobs-report-2020-adefe1d364d3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238400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smtClean="0"/>
              <a:t>Ofertas de Trabajo para “Data Scientist”</a:t>
            </a:r>
            <a:endParaRPr lang="es-CL" dirty="0"/>
          </a:p>
        </p:txBody>
      </p:sp>
      <p:sp>
        <p:nvSpPr>
          <p:cNvPr id="5" name="TextBox 4"/>
          <p:cNvSpPr txBox="1"/>
          <p:nvPr/>
        </p:nvSpPr>
        <p:spPr>
          <a:xfrm>
            <a:off x="0" y="4818955"/>
            <a:ext cx="922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hlinkClick r:id="rId2"/>
              </a:rPr>
              <a:t>https://medium.com/@</a:t>
            </a:r>
            <a:r>
              <a:rPr lang="en-US" sz="1600" dirty="0" smtClean="0">
                <a:hlinkClick r:id="rId2"/>
              </a:rPr>
              <a:t>chihhsulin/5-500-data-scientist-jobs-report-2020-adefe1d364d3</a:t>
            </a:r>
            <a:endParaRPr lang="es-CL" sz="16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960" y="1153511"/>
            <a:ext cx="5288279" cy="3481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968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h6da4e9a884d90e73_0_7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0" y="4465"/>
            <a:ext cx="9144003" cy="513457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h6da4e9a884d90e73_0_7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D430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h6da4e9a884d90e73_0_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5347" y="-1"/>
            <a:ext cx="1646677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h6da4e9a884d90e73_0_7"/>
          <p:cNvGrpSpPr/>
          <p:nvPr/>
        </p:nvGrpSpPr>
        <p:grpSpPr>
          <a:xfrm>
            <a:off x="476249" y="381000"/>
            <a:ext cx="7331319" cy="762000"/>
            <a:chOff x="476250" y="381000"/>
            <a:chExt cx="6667500" cy="762000"/>
          </a:xfrm>
        </p:grpSpPr>
        <p:sp>
          <p:nvSpPr>
            <p:cNvPr id="79" name="Google Shape;79;h6da4e9a884d90e73_0_7"/>
            <p:cNvSpPr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h6da4e9a884d90e73_0_7"/>
            <p:cNvSpPr txBox="1"/>
            <p:nvPr/>
          </p:nvSpPr>
          <p:spPr>
            <a:xfrm>
              <a:off x="476250" y="3810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0"/>
                <a:buFont typeface="Arial"/>
                <a:buNone/>
              </a:pPr>
              <a:endParaRPr sz="1190" b="0" i="0" u="none" strike="noStrike" cap="none" dirty="0">
                <a:solidFill>
                  <a:srgbClr val="D4301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40"/>
                <a:buFont typeface="Arial"/>
                <a:buNone/>
              </a:pPr>
              <a:r>
                <a:rPr lang="es-419" sz="2040" b="0" i="0" u="none" strike="noStrike" cap="none" dirty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Diploma en </a:t>
              </a:r>
              <a:r>
                <a:rPr lang="es-419" sz="2040" dirty="0">
                  <a:solidFill>
                    <a:srgbClr val="2E354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Ciencia e Ingeniería de Datos - U. de Chile</a:t>
              </a:r>
              <a:endParaRPr sz="2040" b="0" i="0" u="none" strike="noStrike" cap="none" dirty="0">
                <a:solidFill>
                  <a:srgbClr val="2E354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81" name="Google Shape;81;h6da4e9a884d90e73_0_7"/>
          <p:cNvGrpSpPr/>
          <p:nvPr/>
        </p:nvGrpSpPr>
        <p:grpSpPr>
          <a:xfrm>
            <a:off x="476250" y="1238250"/>
            <a:ext cx="8191500" cy="476400"/>
            <a:chOff x="476250" y="1238250"/>
            <a:chExt cx="8191500" cy="476400"/>
          </a:xfrm>
        </p:grpSpPr>
        <p:sp>
          <p:nvSpPr>
            <p:cNvPr id="82" name="Google Shape;82;h6da4e9a884d90e73_0_7"/>
            <p:cNvSpPr/>
            <p:nvPr/>
          </p:nvSpPr>
          <p:spPr>
            <a:xfrm>
              <a:off x="476250" y="1238250"/>
              <a:ext cx="8191500" cy="476400"/>
            </a:xfrm>
            <a:prstGeom prst="roundRect">
              <a:avLst>
                <a:gd name="adj" fmla="val 8000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h6da4e9a884d90e73_0_7"/>
            <p:cNvSpPr txBox="1"/>
            <p:nvPr/>
          </p:nvSpPr>
          <p:spPr>
            <a:xfrm>
              <a:off x="619125" y="1238250"/>
              <a:ext cx="7905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lang="es-419" sz="1250" i="1">
                  <a:solidFill>
                    <a:srgbClr val="4E6E81"/>
                  </a:solidFill>
                  <a:latin typeface="Inter"/>
                  <a:ea typeface="Inter"/>
                  <a:cs typeface="Inter"/>
                  <a:sym typeface="Inter"/>
                </a:rPr>
                <a:t>Lidera la toma de decisiones basadas en datos en la era de la IA</a:t>
              </a:r>
              <a:endParaRPr sz="1250" b="0" i="1" u="none" strike="noStrike" cap="none">
                <a:solidFill>
                  <a:srgbClr val="4E6E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4" name="Google Shape;84;h6da4e9a884d90e73_0_7"/>
          <p:cNvGrpSpPr/>
          <p:nvPr/>
        </p:nvGrpSpPr>
        <p:grpSpPr>
          <a:xfrm>
            <a:off x="476250" y="1905000"/>
            <a:ext cx="8191650" cy="2196300"/>
            <a:chOff x="476250" y="1905000"/>
            <a:chExt cx="8191650" cy="2196300"/>
          </a:xfrm>
        </p:grpSpPr>
        <p:sp>
          <p:nvSpPr>
            <p:cNvPr id="85" name="Google Shape;85;h6da4e9a884d90e73_0_7"/>
            <p:cNvSpPr/>
            <p:nvPr/>
          </p:nvSpPr>
          <p:spPr>
            <a:xfrm>
              <a:off x="476250" y="1905000"/>
              <a:ext cx="3905400" cy="2001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DEE2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h6da4e9a884d90e73_0_7"/>
            <p:cNvSpPr txBox="1"/>
            <p:nvPr/>
          </p:nvSpPr>
          <p:spPr>
            <a:xfrm>
              <a:off x="666750" y="2047875"/>
              <a:ext cx="3524400" cy="17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 b="1" i="0" u="none" strike="noStrike" cap="none">
                  <a:solidFill>
                    <a:srgbClr val="D43015"/>
                  </a:solidFill>
                  <a:latin typeface="Inter"/>
                  <a:ea typeface="Inter"/>
                  <a:cs typeface="Inter"/>
                  <a:sym typeface="Inter"/>
                </a:rPr>
                <a:t>DETALLES DEL PROGRAMA</a:t>
              </a:r>
              <a:endParaRPr sz="1200" b="1" i="0" u="none" strike="noStrike" cap="none">
                <a:solidFill>
                  <a:srgbClr val="D430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360001" marR="0" lvl="0" indent="0" algn="l" rtl="0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 b="1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Inicio: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s-419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abril 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202</a:t>
              </a:r>
              <a:r>
                <a:rPr lang="es-419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7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  <a:b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s-419" sz="1200" b="1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Término: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s-419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agosto 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2027</a:t>
              </a:r>
              <a:endPara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360001" marR="0" lvl="0" indent="0" algn="l" rtl="0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 b="1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Modalidad: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Online con clases en vivo</a:t>
              </a:r>
              <a:endPara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360001" marR="0" lvl="0" indent="0" algn="l" rtl="0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 b="1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Horarios: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Lun, Mar y Jue </a:t>
              </a:r>
              <a:r>
                <a:rPr lang="es-419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</a:t>
              </a:r>
              <a:r>
                <a:rPr lang="es-419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18:30 a 21:30 </a:t>
              </a:r>
              <a:r>
                <a:rPr lang="es-419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h. Un sábado al mes de 9:00 a 12:00.</a:t>
              </a:r>
              <a:endPara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7" name="Google Shape;87;h6da4e9a884d90e73_0_7"/>
            <p:cNvSpPr/>
            <p:nvPr/>
          </p:nvSpPr>
          <p:spPr>
            <a:xfrm>
              <a:off x="4572000" y="1905000"/>
              <a:ext cx="4095900" cy="21963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DEE2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h6da4e9a884d90e73_0_7"/>
            <p:cNvSpPr txBox="1"/>
            <p:nvPr/>
          </p:nvSpPr>
          <p:spPr>
            <a:xfrm>
              <a:off x="4762500" y="2047875"/>
              <a:ext cx="3714900" cy="2043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 b="1" i="0" u="none" strike="noStrike" cap="none" dirty="0">
                  <a:solidFill>
                    <a:srgbClr val="D43015"/>
                  </a:solidFill>
                  <a:latin typeface="Inter"/>
                  <a:ea typeface="Inter"/>
                  <a:cs typeface="Inter"/>
                  <a:sym typeface="Inter"/>
                </a:rPr>
                <a:t>MALLA CURRICULAR</a:t>
              </a:r>
              <a:endParaRPr sz="1200" b="1" i="0" u="none" strike="noStrike" cap="none" dirty="0">
                <a:solidFill>
                  <a:srgbClr val="D430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7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Programación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Estadística</a:t>
              </a:r>
              <a:endParaRPr sz="120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Visualización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Datos</a:t>
              </a:r>
              <a:endParaRPr sz="120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Recuperación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Información</a:t>
              </a:r>
              <a:endParaRPr sz="120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Aprendizaje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Máquinas y Deep Learning</a:t>
              </a:r>
              <a:endParaRPr sz="120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Minería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Datos</a:t>
              </a:r>
              <a:endParaRPr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rgbClr val="4D4D4D"/>
                  </a:solidFill>
                  <a:uFill>
                    <a:noFill/>
                  </a:uFill>
                </a:rPr>
                <a:t> </a:t>
              </a:r>
              <a:r>
                <a:rPr lang="es-419" sz="1200" dirty="0" smtClean="0">
                  <a:solidFill>
                    <a:srgbClr val="C00000"/>
                  </a:solidFill>
                  <a:uFill>
                    <a:noFill/>
                  </a:uFill>
                </a:rPr>
                <a:t>Big </a:t>
              </a:r>
              <a:r>
                <a:rPr lang="es-419" sz="1200" dirty="0">
                  <a:solidFill>
                    <a:srgbClr val="C00000"/>
                  </a:solidFill>
                  <a:uFill>
                    <a:noFill/>
                  </a:uFill>
                </a:rPr>
                <a:t>Data</a:t>
              </a:r>
              <a:endParaRPr sz="1200" dirty="0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52000" marR="0" lvl="0" indent="-148200" algn="l" rtl="0">
                <a:lnSpc>
                  <a:spcPct val="115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dk1"/>
                </a:buClr>
                <a:buSzPts val="1200"/>
                <a:buFont typeface="Inter"/>
                <a:buChar char="➔"/>
              </a:pPr>
              <a:r>
                <a:rPr lang="es-419" sz="1200" dirty="0" smtClean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Taller </a:t>
              </a:r>
              <a:r>
                <a:rPr lang="es-419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 Proyecto</a:t>
              </a:r>
              <a:endParaRPr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9" name="Google Shape;89;h6da4e9a884d90e73_0_7"/>
          <p:cNvSpPr txBox="1"/>
          <p:nvPr/>
        </p:nvSpPr>
        <p:spPr>
          <a:xfrm>
            <a:off x="476250" y="4559950"/>
            <a:ext cx="81915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1" i="0" u="none" strike="noStrike" cap="none">
                <a:solidFill>
                  <a:srgbClr val="2E3541"/>
                </a:solidFill>
                <a:latin typeface="Inter"/>
                <a:ea typeface="Inter"/>
                <a:cs typeface="Inter"/>
                <a:sym typeface="Inter"/>
              </a:rPr>
              <a:t>Más información:</a:t>
            </a:r>
            <a:r>
              <a:rPr lang="es-419" sz="1200" b="0" i="0" u="none" strike="noStrike" cap="none">
                <a:solidFill>
                  <a:srgbClr val="2E354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-419" sz="1200" b="0" i="0" u="sng" strike="noStrike" cap="non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dcc.uchile.cl/</a:t>
            </a:r>
            <a:r>
              <a:rPr lang="es-419" sz="12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datos</a:t>
            </a:r>
            <a:endParaRPr sz="1200" b="0" i="0" u="none" strike="noStrike" cap="none">
              <a:solidFill>
                <a:srgbClr val="4E6E8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0" name="Google Shape;90;h6da4e9a884d90e73_0_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7925" y="2488525"/>
            <a:ext cx="149759" cy="16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h6da4e9a884d90e73_0_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6400" y="3054069"/>
            <a:ext cx="192798" cy="166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h6da4e9a884d90e73_0_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6400" y="3460200"/>
            <a:ext cx="192800" cy="1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 txBox="1"/>
          <p:nvPr/>
        </p:nvSpPr>
        <p:spPr>
          <a:xfrm>
            <a:off x="2221200" y="3840475"/>
            <a:ext cx="47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0" i="0" u="none" strike="noStrike" cap="none">
                <a:solidFill>
                  <a:srgbClr val="2E354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Síguenos en nuestras redes sociales</a:t>
            </a:r>
            <a:endParaRPr sz="1800" b="0" i="0" u="none" strike="noStrike" cap="none">
              <a:solidFill>
                <a:srgbClr val="2E354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98" name="Google Shape;9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4938" y="979800"/>
            <a:ext cx="2134123" cy="2201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4"/>
          <p:cNvGrpSpPr/>
          <p:nvPr/>
        </p:nvGrpSpPr>
        <p:grpSpPr>
          <a:xfrm>
            <a:off x="2837420" y="4339116"/>
            <a:ext cx="3469160" cy="246300"/>
            <a:chOff x="2548865" y="4339116"/>
            <a:chExt cx="3469160" cy="246300"/>
          </a:xfrm>
        </p:grpSpPr>
        <p:pic>
          <p:nvPicPr>
            <p:cNvPr id="100" name="Google Shape;100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48865" y="4369572"/>
              <a:ext cx="1189435" cy="204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4"/>
            <p:cNvSpPr txBox="1"/>
            <p:nvPr/>
          </p:nvSpPr>
          <p:spPr>
            <a:xfrm>
              <a:off x="3824425" y="4339116"/>
              <a:ext cx="2193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419" sz="16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educacioncontinuadcc</a:t>
              </a:r>
              <a:endParaRPr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DCC">
      <a:dk1>
        <a:srgbClr val="2E3441"/>
      </a:dk1>
      <a:lt1>
        <a:srgbClr val="FFFFFF"/>
      </a:lt1>
      <a:dk2>
        <a:srgbClr val="2E3441"/>
      </a:dk2>
      <a:lt2>
        <a:srgbClr val="EAEEF0"/>
      </a:lt2>
      <a:accent1>
        <a:srgbClr val="D32F16"/>
      </a:accent1>
      <a:accent2>
        <a:srgbClr val="01016C"/>
      </a:accent2>
      <a:accent3>
        <a:srgbClr val="4E6E81"/>
      </a:accent3>
      <a:accent4>
        <a:srgbClr val="59147D"/>
      </a:accent4>
      <a:accent5>
        <a:srgbClr val="378ECC"/>
      </a:accent5>
      <a:accent6>
        <a:srgbClr val="1EA8AF"/>
      </a:accent6>
      <a:hlink>
        <a:srgbClr val="01016C"/>
      </a:hlink>
      <a:folHlink>
        <a:srgbClr val="0101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334</Words>
  <Application>Microsoft Office PowerPoint</Application>
  <PresentationFormat>On-screen Show (16:9)</PresentationFormat>
  <Paragraphs>114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Poppins</vt:lpstr>
      <vt:lpstr>Calibri Light</vt:lpstr>
      <vt:lpstr>Segoe UI Semilight</vt:lpstr>
      <vt:lpstr>Poppins SemiBold</vt:lpstr>
      <vt:lpstr>Inconsolata Medium</vt:lpstr>
      <vt:lpstr>Inter</vt:lpstr>
      <vt:lpstr>Simple Light</vt:lpstr>
      <vt:lpstr>Taller: El mundo del Big Data a través del cine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Ofertas de Trabajo para “Data Scientist”</vt:lpstr>
      <vt:lpstr>Ofertas de Trabajo para “Data Scientist”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Taller: El mundo del Big Data a través del cine</dc:title>
  <dc:creator>Aidan Hogan</dc:creator>
  <cp:lastModifiedBy>Aidan Hogan</cp:lastModifiedBy>
  <cp:revision>39</cp:revision>
  <dcterms:modified xsi:type="dcterms:W3CDTF">2026-10-21T20:43:23Z</dcterms:modified>
</cp:coreProperties>
</file>